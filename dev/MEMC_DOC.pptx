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MEMC: DOC?</a:t>
            </a:r>
          </a:p>
        </p:txBody>
      </p:sp>
      <p:sp>
        <p:nvSpPr>
          <p:cNvPr id="4" name="Date Placeholder 3"/>
          <p:cNvSpPr>
            <a:spLocks noGrp="1"/>
          </p:cNvSpPr>
          <p:nvPr>
            <p:ph idx="10" sz="half" type="dt"/>
          </p:nvPr>
        </p:nvSpPr>
        <p:spPr/>
        <p:txBody>
          <a:bodyPr/>
          <a:lstStyle/>
          <a:p>
            <a:pPr lvl="0" indent="0" marL="0">
              <a:buNone/>
            </a:pPr>
            <a:r>
              <a:rPr/>
              <a:t>2026-01-12</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Objective</a:t>
            </a:r>
          </a:p>
        </p:txBody>
      </p:sp>
      <p:sp>
        <p:nvSpPr>
          <p:cNvPr id="4" name="Text Placeholder 3"/>
          <p:cNvSpPr>
            <a:spLocks noGrp="1"/>
          </p:cNvSpPr>
          <p:nvPr>
            <p:ph idx="2" sz="half" type="body"/>
          </p:nvPr>
        </p:nvSpPr>
        <p:spPr/>
        <p:txBody>
          <a:bodyPr/>
          <a:lstStyle/>
          <a:p>
            <a:pPr lvl="0" indent="0" marL="0">
              <a:buNone/>
            </a:pPr>
            <a:r>
              <a:rPr/>
              <a:t>When looking at the default (out of the box) MEMC MEND configuration run the DOC pool crashes quickly. This is unexpected behavior. This investigation aims to get at the cause of this.</a:t>
            </a:r>
          </a:p>
          <a:p>
            <a:pPr lvl="0"/>
            <a:r>
              <a:rPr/>
              <a:t>is there a problem with the initial starting conditions?</a:t>
            </a:r>
          </a:p>
          <a:p>
            <a:pPr lvl="0"/>
            <a:r>
              <a:rPr/>
              <a:t>is there a problem with the parameter values causing the F input and out of the DOC to be too large?</a:t>
            </a:r>
          </a:p>
          <a:p>
            <a:pPr lvl="0"/>
            <a:r>
              <a:rPr/>
              <a:t>is there a structural problem with the model?</a:t>
            </a:r>
          </a:p>
        </p:txBody>
      </p:sp>
      <p:pic>
        <p:nvPicPr>
          <p:cNvPr descr="MEMC_DOC_files/figure-pptx/unnamed-chunk-1-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 is happening to DOC beyond the inital crash?</a:t>
            </a:r>
          </a:p>
        </p:txBody>
      </p:sp>
      <p:sp>
        <p:nvSpPr>
          <p:cNvPr id="4" name="Text Placeholder 3"/>
          <p:cNvSpPr>
            <a:spLocks noGrp="1"/>
          </p:cNvSpPr>
          <p:nvPr>
            <p:ph idx="2" sz="half" type="body"/>
          </p:nvPr>
        </p:nvSpPr>
        <p:spPr/>
        <p:txBody>
          <a:bodyPr/>
          <a:lstStyle/>
          <a:p>
            <a:pPr lvl="0" indent="0">
              <a:buNone/>
            </a:pPr>
            <a:r>
              <a:rPr>
                <a:latin typeface="Courier"/>
              </a:rPr>
              <a:t>mend_out1 </a:t>
            </a:r>
            <a:r>
              <a:rPr>
                <a:solidFill>
                  <a:srgbClr val="4070A0"/>
                </a:solidFill>
                <a:latin typeface="Courier"/>
              </a:rPr>
              <a:t>%&gt;%</a:t>
            </a:r>
            <a:r>
              <a:rPr>
                <a:latin typeface="Courier"/>
              </a:rPr>
              <a:t> </a:t>
            </a:r>
            <a:br/>
            <a:r>
              <a:rPr>
                <a:latin typeface="Courier"/>
              </a:rPr>
              <a:t>  </a:t>
            </a:r>
            <a:r>
              <a:rPr>
                <a:solidFill>
                  <a:srgbClr val="06287E"/>
                </a:solidFill>
                <a:latin typeface="Courier"/>
              </a:rPr>
              <a:t>filter</a:t>
            </a:r>
            <a:r>
              <a:rPr>
                <a:latin typeface="Courier"/>
              </a:rPr>
              <a:t>(time </a:t>
            </a:r>
            <a:r>
              <a:rPr>
                <a:solidFill>
                  <a:srgbClr val="4070A0"/>
                </a:solidFill>
                <a:latin typeface="Courier"/>
              </a:rPr>
              <a:t>%in%</a:t>
            </a:r>
            <a:r>
              <a:rPr>
                <a:latin typeface="Courier"/>
              </a:rPr>
              <a:t> </a:t>
            </a:r>
            <a:r>
              <a:rPr>
                <a:solidFill>
                  <a:srgbClr val="40A070"/>
                </a:solidFill>
                <a:latin typeface="Courier"/>
              </a:rPr>
              <a:t>1</a:t>
            </a:r>
            <a:r>
              <a:rPr>
                <a:solidFill>
                  <a:srgbClr val="4070A0"/>
                </a:solidFill>
                <a:latin typeface="Courier"/>
              </a:rPr>
              <a:t>:</a:t>
            </a:r>
            <a:r>
              <a:rPr>
                <a:solidFill>
                  <a:srgbClr val="40A070"/>
                </a:solidFill>
                <a:latin typeface="Courier"/>
              </a:rPr>
              <a:t>50</a:t>
            </a:r>
            <a:r>
              <a:rPr>
                <a:latin typeface="Courier"/>
              </a:rPr>
              <a:t>) </a:t>
            </a:r>
            <a:r>
              <a:rPr>
                <a:solidFill>
                  <a:srgbClr val="4070A0"/>
                </a:solidFill>
                <a:latin typeface="Courier"/>
              </a:rPr>
              <a:t>%&gt;%</a:t>
            </a:r>
            <a:r>
              <a:rPr>
                <a:latin typeface="Courier"/>
              </a:rPr>
              <a:t> </a:t>
            </a:r>
            <a:br/>
            <a:r>
              <a:rPr>
                <a:latin typeface="Courier"/>
              </a:rPr>
              <a:t>  </a:t>
            </a:r>
            <a:r>
              <a:rPr>
                <a:solidFill>
                  <a:srgbClr val="06287E"/>
                </a:solidFill>
                <a:latin typeface="Courier"/>
              </a:rPr>
              <a:t>filter</a:t>
            </a:r>
            <a:r>
              <a:rPr>
                <a:latin typeface="Courier"/>
              </a:rPr>
              <a:t>(variable </a:t>
            </a:r>
            <a:r>
              <a:rPr>
                <a:solidFill>
                  <a:srgbClr val="4070A0"/>
                </a:solidFill>
                <a:latin typeface="Courier"/>
              </a:rPr>
              <a:t>==</a:t>
            </a:r>
            <a:r>
              <a:rPr>
                <a:latin typeface="Courier"/>
              </a:rPr>
              <a:t> </a:t>
            </a:r>
            <a:r>
              <a:rPr>
                <a:solidFill>
                  <a:srgbClr val="4070A0"/>
                </a:solidFill>
                <a:latin typeface="Courier"/>
              </a:rPr>
              <a:t>"DOC"</a:t>
            </a:r>
            <a:r>
              <a:rPr>
                <a:latin typeface="Courier"/>
              </a:rPr>
              <a:t>) </a:t>
            </a:r>
            <a:r>
              <a:rPr>
                <a:solidFill>
                  <a:srgbClr val="007020"/>
                </a:solidFill>
                <a:latin typeface="Courier"/>
              </a:rPr>
              <a:t>-&gt;</a:t>
            </a:r>
            <a:r>
              <a:rPr>
                <a:latin typeface="Courier"/>
              </a:rPr>
              <a:t> </a:t>
            </a:r>
            <a:br/>
            <a:r>
              <a:rPr>
                <a:latin typeface="Courier"/>
              </a:rPr>
              <a:t>  doc_post_crash</a:t>
            </a:r>
            <a:br/>
            <a:br/>
            <a:r>
              <a:rPr>
                <a:latin typeface="Courier"/>
              </a:rPr>
              <a:t>doc_post_crash</a:t>
            </a:r>
            <a:r>
              <a:rPr>
                <a:solidFill>
                  <a:srgbClr val="4070A0"/>
                </a:solidFill>
                <a:latin typeface="Courier"/>
              </a:rPr>
              <a:t>$</a:t>
            </a:r>
            <a:r>
              <a:rPr>
                <a:latin typeface="Courier"/>
              </a:rPr>
              <a:t>value </a:t>
            </a:r>
            <a:r>
              <a:rPr>
                <a:solidFill>
                  <a:srgbClr val="4070A0"/>
                </a:solidFill>
                <a:latin typeface="Courier"/>
              </a:rPr>
              <a:t>%&gt;%</a:t>
            </a:r>
            <a:r>
              <a:rPr>
                <a:latin typeface="Courier"/>
              </a:rPr>
              <a:t> range</a:t>
            </a:r>
          </a:p>
          <a:p>
            <a:pPr lvl="0" indent="0">
              <a:buNone/>
            </a:pPr>
            <a:r>
              <a:rPr>
                <a:latin typeface="Courier"/>
              </a:rPr>
              <a:t>## [1] 0.0001011846 0.0002248291</a:t>
            </a:r>
          </a:p>
        </p:txBody>
      </p:sp>
      <p:pic>
        <p:nvPicPr>
          <p:cNvPr descr="MEMC_DOC_files/figure-pptx/unnamed-chunk-3-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Initial Starting Conditions</a:t>
            </a:r>
          </a:p>
        </p:txBody>
      </p:sp>
      <p:sp>
        <p:nvSpPr>
          <p:cNvPr id="4" name="Text Placeholder 3"/>
          <p:cNvSpPr>
            <a:spLocks noGrp="1"/>
          </p:cNvSpPr>
          <p:nvPr>
            <p:ph idx="2" sz="half" type="body"/>
          </p:nvPr>
        </p:nvSpPr>
        <p:spPr/>
        <p:txBody>
          <a:bodyPr/>
          <a:lstStyle/>
          <a:p>
            <a:pPr lvl="0" indent="0" marL="0">
              <a:buNone/>
            </a:pPr>
            <a:r>
              <a:rPr/>
              <a:t>Since the part of the model we are interested in is</a:t>
            </a:r>
          </a:p>
          <a:p>
            <a:pPr lvl="0" indent="0" marL="0">
              <a:buNone/>
            </a:pPr>
            <a:r>
              <a:rPr/>
              <a:t>POC –&gt; DOC –&gt; MB</a:t>
            </a:r>
          </a:p>
          <a:p>
            <a:pPr lvl="0" indent="0" marL="0">
              <a:buNone/>
            </a:pPr>
            <a:r>
              <a:rPr/>
              <a:t>Let’s take a look at the relative size of these pools in our default (Wang et al. 2013) set up and then in the four soil samples we have from the ORNL SFA.</a:t>
            </a:r>
          </a:p>
          <a:p>
            <a:pPr lvl="0" indent="0" marL="0">
              <a:buNone/>
            </a:pPr>
          </a:p>
          <a:p>
            <a:pPr lvl="0" indent="0" marL="0">
              <a:buNone/>
            </a:pPr>
            <a:r>
              <a:rPr/>
              <a:t>In this table I take a look at the ratio of the three pools of interest relative to the total pool. I am curious if the default pool is consistent with the other soil samples.</a:t>
            </a:r>
          </a:p>
          <a:p>
            <a:pPr lvl="0" indent="0" marL="0">
              <a:buNone/>
            </a:pPr>
            <a:r>
              <a:rPr/>
              <a:t> Looking at the table the “default” initial pool size has the largest relative DOC pool. Across all the soil samples the POC pool is larger than the DOC and MB. On the gelisol sample had a MB pool that is less than the DOC pool. All the other samples have DOC &gt;= MB.</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lgn="l">
                        <a:buNone/>
                      </a:pPr>
                      <a:r>
                        <a:rPr/>
                        <a:t>source</a:t>
                      </a:r>
                    </a:p>
                  </a:txBody>
                  <a:tcPr/>
                </a:tc>
                <a:tc>
                  <a:txBody>
                    <a:bodyPr/>
                    <a:lstStyle/>
                    <a:p>
                      <a:pPr lvl="0" indent="0" marL="0" algn="r">
                        <a:buNone/>
                      </a:pPr>
                      <a:r>
                        <a:rPr/>
                        <a:t>POC</a:t>
                      </a:r>
                    </a:p>
                  </a:txBody>
                  <a:tcPr/>
                </a:tc>
                <a:tc>
                  <a:txBody>
                    <a:bodyPr/>
                    <a:lstStyle/>
                    <a:p>
                      <a:pPr lvl="0" indent="0" marL="0" algn="r">
                        <a:buNone/>
                      </a:pPr>
                      <a:r>
                        <a:rPr/>
                        <a:t>DOC</a:t>
                      </a:r>
                    </a:p>
                  </a:txBody>
                  <a:tcPr/>
                </a:tc>
                <a:tc>
                  <a:txBody>
                    <a:bodyPr/>
                    <a:lstStyle/>
                    <a:p>
                      <a:pPr lvl="0" indent="0" marL="0" algn="r">
                        <a:buNone/>
                      </a:pPr>
                      <a:r>
                        <a:rPr/>
                        <a:t>MB</a:t>
                      </a:r>
                    </a:p>
                  </a:txBody>
                  <a:tcPr/>
                </a:tc>
              </a:tr>
              <a:tr h="0">
                <a:tc>
                  <a:txBody>
                    <a:bodyPr/>
                    <a:lstStyle/>
                    <a:p>
                      <a:pPr lvl="0" indent="0" marL="0" algn="l">
                        <a:buNone/>
                      </a:pPr>
                      <a:r>
                        <a:rPr/>
                        <a:t>default</a:t>
                      </a:r>
                    </a:p>
                  </a:txBody>
                </a:tc>
                <a:tc>
                  <a:txBody>
                    <a:bodyPr/>
                    <a:lstStyle/>
                    <a:p>
                      <a:pPr lvl="0" indent="0" marL="0" algn="r">
                        <a:buNone/>
                      </a:pPr>
                      <a:r>
                        <a:rPr/>
                        <a:t>0.55</a:t>
                      </a:r>
                    </a:p>
                  </a:txBody>
                </a:tc>
                <a:tc>
                  <a:txBody>
                    <a:bodyPr/>
                    <a:lstStyle/>
                    <a:p>
                      <a:pPr lvl="0" indent="0" marL="0" algn="r">
                        <a:buNone/>
                      </a:pPr>
                      <a:r>
                        <a:rPr/>
                        <a:t>0.06</a:t>
                      </a:r>
                    </a:p>
                  </a:txBody>
                </a:tc>
                <a:tc>
                  <a:txBody>
                    <a:bodyPr/>
                    <a:lstStyle/>
                    <a:p>
                      <a:pPr lvl="0" indent="0" marL="0" algn="r">
                        <a:buNone/>
                      </a:pPr>
                      <a:r>
                        <a:rPr/>
                        <a:t>0.11</a:t>
                      </a:r>
                    </a:p>
                  </a:txBody>
                </a:tc>
              </a:tr>
              <a:tr h="0">
                <a:tc>
                  <a:txBody>
                    <a:bodyPr/>
                    <a:lstStyle/>
                    <a:p>
                      <a:pPr lvl="0" indent="0" marL="0" algn="l">
                        <a:buNone/>
                      </a:pPr>
                      <a:r>
                        <a:rPr/>
                        <a:t>andisol</a:t>
                      </a:r>
                    </a:p>
                  </a:txBody>
                </a:tc>
                <a:tc>
                  <a:txBody>
                    <a:bodyPr/>
                    <a:lstStyle/>
                    <a:p>
                      <a:pPr lvl="0" indent="0" marL="0" algn="r">
                        <a:buNone/>
                      </a:pPr>
                      <a:r>
                        <a:rPr/>
                        <a:t>0.23</a:t>
                      </a:r>
                    </a:p>
                  </a:txBody>
                </a:tc>
                <a:tc>
                  <a:txBody>
                    <a:bodyPr/>
                    <a:lstStyle/>
                    <a:p>
                      <a:pPr lvl="0" indent="0" marL="0" algn="r">
                        <a:buNone/>
                      </a:pPr>
                      <a:r>
                        <a:rPr/>
                        <a:t>0.01</a:t>
                      </a:r>
                    </a:p>
                  </a:txBody>
                </a:tc>
                <a:tc>
                  <a:txBody>
                    <a:bodyPr/>
                    <a:lstStyle/>
                    <a:p>
                      <a:pPr lvl="0" indent="0" marL="0" algn="r">
                        <a:buNone/>
                      </a:pPr>
                      <a:r>
                        <a:rPr/>
                        <a:t>0.01</a:t>
                      </a:r>
                    </a:p>
                  </a:txBody>
                </a:tc>
              </a:tr>
              <a:tr h="0">
                <a:tc>
                  <a:txBody>
                    <a:bodyPr/>
                    <a:lstStyle/>
                    <a:p>
                      <a:pPr lvl="0" indent="0" marL="0" algn="l">
                        <a:buNone/>
                      </a:pPr>
                      <a:r>
                        <a:rPr/>
                        <a:t>gelisol</a:t>
                      </a:r>
                    </a:p>
                  </a:txBody>
                </a:tc>
                <a:tc>
                  <a:txBody>
                    <a:bodyPr/>
                    <a:lstStyle/>
                    <a:p>
                      <a:pPr lvl="0" indent="0" marL="0" algn="r">
                        <a:buNone/>
                      </a:pPr>
                      <a:r>
                        <a:rPr/>
                        <a:t>0.27</a:t>
                      </a:r>
                    </a:p>
                  </a:txBody>
                </a:tc>
                <a:tc>
                  <a:txBody>
                    <a:bodyPr/>
                    <a:lstStyle/>
                    <a:p>
                      <a:pPr lvl="0" indent="0" marL="0" algn="r">
                        <a:buNone/>
                      </a:pPr>
                      <a:r>
                        <a:rPr/>
                        <a:t>0.01</a:t>
                      </a:r>
                    </a:p>
                  </a:txBody>
                </a:tc>
                <a:tc>
                  <a:txBody>
                    <a:bodyPr/>
                    <a:lstStyle/>
                    <a:p>
                      <a:pPr lvl="0" indent="0" marL="0" algn="r">
                        <a:buNone/>
                      </a:pPr>
                      <a:r>
                        <a:rPr/>
                        <a:t>0.00</a:t>
                      </a:r>
                    </a:p>
                  </a:txBody>
                </a:tc>
              </a:tr>
              <a:tr h="0">
                <a:tc>
                  <a:txBody>
                    <a:bodyPr/>
                    <a:lstStyle/>
                    <a:p>
                      <a:pPr lvl="0" indent="0" marL="0" algn="l">
                        <a:buNone/>
                      </a:pPr>
                      <a:r>
                        <a:rPr/>
                        <a:t>mollisol</a:t>
                      </a:r>
                    </a:p>
                  </a:txBody>
                </a:tc>
                <a:tc>
                  <a:txBody>
                    <a:bodyPr/>
                    <a:lstStyle/>
                    <a:p>
                      <a:pPr lvl="0" indent="0" marL="0" algn="r">
                        <a:buNone/>
                      </a:pPr>
                      <a:r>
                        <a:rPr/>
                        <a:t>0.10</a:t>
                      </a:r>
                    </a:p>
                  </a:txBody>
                </a:tc>
                <a:tc>
                  <a:txBody>
                    <a:bodyPr/>
                    <a:lstStyle/>
                    <a:p>
                      <a:pPr lvl="0" indent="0" marL="0" algn="r">
                        <a:buNone/>
                      </a:pPr>
                      <a:r>
                        <a:rPr/>
                        <a:t>0.01</a:t>
                      </a:r>
                    </a:p>
                  </a:txBody>
                </a:tc>
                <a:tc>
                  <a:txBody>
                    <a:bodyPr/>
                    <a:lstStyle/>
                    <a:p>
                      <a:pPr lvl="0" indent="0" marL="0" algn="r">
                        <a:buNone/>
                      </a:pPr>
                      <a:r>
                        <a:rPr/>
                        <a:t>0.02</a:t>
                      </a:r>
                    </a:p>
                  </a:txBody>
                </a:tc>
              </a:tr>
              <a:tr h="0">
                <a:tc>
                  <a:txBody>
                    <a:bodyPr/>
                    <a:lstStyle/>
                    <a:p>
                      <a:pPr lvl="0" indent="0" marL="0" algn="l">
                        <a:buNone/>
                      </a:pPr>
                      <a:r>
                        <a:rPr/>
                        <a:t>ultisol</a:t>
                      </a:r>
                    </a:p>
                  </a:txBody>
                </a:tc>
                <a:tc>
                  <a:txBody>
                    <a:bodyPr/>
                    <a:lstStyle/>
                    <a:p>
                      <a:pPr lvl="0" indent="0" marL="0" algn="r">
                        <a:buNone/>
                      </a:pPr>
                      <a:r>
                        <a:rPr/>
                        <a:t>0.20</a:t>
                      </a:r>
                    </a:p>
                  </a:txBody>
                </a:tc>
                <a:tc>
                  <a:txBody>
                    <a:bodyPr/>
                    <a:lstStyle/>
                    <a:p>
                      <a:pPr lvl="0" indent="0" marL="0" algn="r">
                        <a:buNone/>
                      </a:pPr>
                      <a:r>
                        <a:rPr/>
                        <a:t>0.01</a:t>
                      </a:r>
                    </a:p>
                  </a:txBody>
                </a:tc>
                <a:tc>
                  <a:txBody>
                    <a:bodyPr/>
                    <a:lstStyle/>
                    <a:p>
                      <a:pPr lvl="0" indent="0" marL="0" algn="r">
                        <a:buNone/>
                      </a:pPr>
                      <a:r>
                        <a:rPr/>
                        <a:t>0.03</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Initial Starting Conditions Cont.</a:t>
            </a:r>
          </a:p>
        </p:txBody>
      </p:sp>
      <p:sp>
        <p:nvSpPr>
          <p:cNvPr id="4" name="Text Placeholder 3"/>
          <p:cNvSpPr>
            <a:spLocks noGrp="1"/>
          </p:cNvSpPr>
          <p:nvPr>
            <p:ph idx="2" sz="half" type="body"/>
          </p:nvPr>
        </p:nvSpPr>
        <p:spPr/>
        <p:txBody>
          <a:bodyPr/>
          <a:lstStyle/>
          <a:p>
            <a:pPr lvl="0" indent="0" marL="0">
              <a:buNone/>
            </a:pPr>
            <a:r>
              <a:rPr/>
              <a:t>Does it matter when we run the MEMC mend with these different initial starting conditions??</a:t>
            </a:r>
          </a:p>
          <a:p>
            <a:pPr lvl="0" indent="0" marL="0">
              <a:buNone/>
            </a:pPr>
            <a:r>
              <a:rPr/>
              <a:t>No, it does not. We are still seeing the almost immediate crash of the DOC pool</a:t>
            </a:r>
          </a:p>
        </p:txBody>
      </p:sp>
      <p:pic>
        <p:nvPicPr>
          <p:cNvPr descr="MEMC_DOC_files/figure-pptx/unnamed-chunk-5-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are the inital fluxes??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with Bullets</a:t>
            </a:r>
          </a:p>
        </p:txBody>
      </p:sp>
      <p:sp>
        <p:nvSpPr>
          <p:cNvPr id="3" name="Content Placeholder 2"/>
          <p:cNvSpPr>
            <a:spLocks noGrp="1"/>
          </p:cNvSpPr>
          <p:nvPr>
            <p:ph idx="1"/>
          </p:nvPr>
        </p:nvSpPr>
        <p:spPr/>
        <p:txBody>
          <a:bodyPr/>
          <a:lstStyle/>
          <a:p>
            <a:pPr lvl="0"/>
            <a:r>
              <a:rPr/>
              <a:t>Bullet 1</a:t>
            </a:r>
          </a:p>
          <a:p>
            <a:pPr lvl="0"/>
            <a:r>
              <a:rPr/>
              <a:t>Bullet 2</a:t>
            </a:r>
          </a:p>
          <a:p>
            <a:pPr lvl="0"/>
            <a:r>
              <a:rPr/>
              <a:t>Bullet 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with R Output</a:t>
            </a:r>
          </a:p>
        </p:txBody>
      </p:sp>
      <p:sp>
        <p:nvSpPr>
          <p:cNvPr id="3" name="Content Placeholder 2"/>
          <p:cNvSpPr>
            <a:spLocks noGrp="1"/>
          </p:cNvSpPr>
          <p:nvPr>
            <p:ph idx="1"/>
          </p:nvPr>
        </p:nvSpPr>
        <p:spPr/>
        <p:txBody>
          <a:bodyPr/>
          <a:lstStyle/>
          <a:p>
            <a:pPr lvl="0" indent="0">
              <a:buNone/>
            </a:pPr>
            <a:r>
              <a:rPr>
                <a:solidFill>
                  <a:srgbClr val="06287E"/>
                </a:solidFill>
                <a:latin typeface="Courier"/>
              </a:rPr>
              <a:t>summary</a:t>
            </a:r>
            <a:r>
              <a:rPr>
                <a:latin typeface="Courier"/>
              </a:rPr>
              <a:t>(cars)</a:t>
            </a:r>
          </a:p>
          <a:p>
            <a:pPr lvl="0" indent="0">
              <a:buNone/>
            </a:pPr>
            <a:r>
              <a:rPr>
                <a:latin typeface="Courier"/>
              </a:rPr>
              <a:t>##      speed           dist       
##  Min.   : 4.0   Min.   :  2.00  
##  1st Qu.:12.0   1st Qu.: 26.00  
##  Median :15.0   Median : 36.00  
##  Mean   :15.4   Mean   : 42.98  
##  3rd Qu.:19.0   3rd Qu.: 56.00  
##  Max.   :25.0   Max.   :120.00</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with Plot</a:t>
            </a:r>
          </a:p>
        </p:txBody>
      </p:sp>
      <p:pic>
        <p:nvPicPr>
          <p:cNvPr descr="MEMC_DOC_files/figure-pptx/pressure-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MEMC: DOC?</dc:title>
  <dc:creator/>
  <cp:keywords/>
  <dcterms:created xsi:type="dcterms:W3CDTF">2026-01-12T17:42:22Z</dcterms:created>
  <dcterms:modified xsi:type="dcterms:W3CDTF">2026-01-12T17:42:22Z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2026-01-12</vt:lpwstr>
  </property>
  <property fmtid="{D5CDD505-2E9C-101B-9397-08002B2CF9AE}" pid="3" name="output">
    <vt:lpwstr>powerpoint_presentation</vt:lpwstr>
  </property>
</Properties>
</file>